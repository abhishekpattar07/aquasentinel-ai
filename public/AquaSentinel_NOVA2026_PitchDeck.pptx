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2026 | SUSTAINABLE &amp; NEXT-GEN TECHNOLOGIES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6583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AQUASENTINEL AI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6217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Underwater Marine Debris Tracking, Physics-Informed Spectral Dehazing &amp; AUV Fleet Mission Dispatch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6217920" cy="822960"/>
          </a:xfrm>
          <a:prstGeom prst="rect">
            <a:avLst/>
          </a:prstGeom>
          <a:solidFill>
            <a:srgbClr val="112240"/>
          </a:solidFill>
          <a:ln w="12700">
            <a:solidFill>
              <a:srgbClr val="00D2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61188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TARGET SDG: UN SDG 14 — Life Below Water &amp; Ocean Protection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31520" y="4572000"/>
            <a:ext cx="6217920" cy="1463040"/>
          </a:xfrm>
          <a:prstGeom prst="rect">
            <a:avLst/>
          </a:prstGeom>
          <a:solidFill>
            <a:srgbClr val="11224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75488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INTERNATIONAL GRAND FINALE SUBMISSION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BITS Pilani Dubai Campus • Microsoft Tech Club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Team: Trinex Bytes • Track C: Sustainable Technologies</a:t>
            </a:r>
            <a:endParaRPr lang="en-US" sz="1200" dirty="0"/>
          </a:p>
        </p:txBody>
      </p:sp>
      <p:pic>
        <p:nvPicPr>
          <p:cNvPr id="9" name="Image 0" descr="C:/Users/d/Downloads/New folder/Architecture_Option2_Clean_Ligh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1097280"/>
            <a:ext cx="438912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PROBLEM STATEMENT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411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Crisis: Oceans Choking in Murky Waters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</a:rPr>
              <a:t>Submerged debris is devastating marine ecosystems, but optical physics blinds human inspection.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62179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83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</a:rPr>
              <a:t>640,000 TONS / YEAR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5852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Ghost Fishing Nets: Abandoned synthetic nets drift for decades, silently killing marine megafauna and strangling vital coral reefs.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3200400"/>
            <a:ext cx="62179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3375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</a:rPr>
              <a:t>14 MILLION TONS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14400" y="3703320"/>
            <a:ext cx="5852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Seabed Microplastics: Plastics sink to benthic layers, fragmenting into toxic particles that poison food webs and coastal fisheries.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4754880"/>
            <a:ext cx="6217920" cy="1463040"/>
          </a:xfrm>
          <a:prstGeom prst="rect">
            <a:avLst/>
          </a:prstGeom>
          <a:solidFill>
            <a:srgbClr val="F8FAFC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892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4C7"/>
                </a:solidFill>
              </a:rPr>
              <a:t>THE OPTICAL ATTENUATION BARRIER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525780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Physical Light Extinction: Seawater absorbs red wavelengths within 5 meters. Murky turbidity and blue-green color casting blind standard AI models and human divers.</a:t>
            </a:r>
            <a:endParaRPr lang="en-US" sz="1200" dirty="0"/>
          </a:p>
        </p:txBody>
      </p:sp>
      <p:pic>
        <p:nvPicPr>
          <p:cNvPr id="15" name="Image 0" descr="C:/Users/d/Downloads/New folder/Extracted_Images_For_PPT/image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1645920"/>
            <a:ext cx="42062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PROPOSED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411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Solution: AquaSentinel AI Platform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</a:rPr>
              <a:t>An end-to-end autonomous perception, classification, and robotic dispatch platform.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10698480" cy="1280160"/>
          </a:xfrm>
          <a:prstGeom prst="rect">
            <a:avLst/>
          </a:prstGeom>
          <a:solidFill>
            <a:srgbClr val="E0F2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783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369A1"/>
                </a:solidFill>
              </a:rPr>
              <a:t>Real-Time Underwater Vision Restorer &amp; Robotic Telemetry Coordinator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1488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</a:rPr>
              <a:t>AquaSentinel bridges murky subsea feeds and cleanup robotics via instant physics-based spectral dehazing (compensating for red-light extinction), zero-shot neural hazard detection, and automated AUV dispatch.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3200400"/>
            <a:ext cx="2468880" cy="30175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383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🎨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3840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4D68"/>
                </a:solidFill>
              </a:rPr>
              <a:t>Spectral Dehaze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4297680"/>
            <a:ext cx="2103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Reconstructs lost red spectrum and natural RGB contrast using Beer-Lambert optical attenuation inversion.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74720" y="3200400"/>
            <a:ext cx="2468880" cy="30175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3383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🚨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657600" y="3840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4D68"/>
                </a:solidFill>
              </a:rPr>
              <a:t>Neural Detector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57600" y="4297680"/>
            <a:ext cx="2103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Isolates ghost nets, synthetic plastics, and corroded chemical barrels at &gt;30 FPS on edge accelerators.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3200400"/>
            <a:ext cx="2468880" cy="30175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3383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📡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00800" y="3840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4D68"/>
                </a:solidFill>
              </a:rPr>
              <a:t>120 kHz Sonar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4297680"/>
            <a:ext cx="2103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Synthesizes acoustic chirps and radar sweeps for spatial orientation in turbid zero-visibility waters.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0" y="3200400"/>
            <a:ext cx="2468880" cy="30175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3383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144000" y="3840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4D68"/>
                </a:solidFill>
              </a:rPr>
              <a:t>AUV Fleet Dispatch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144000" y="4297680"/>
            <a:ext cx="2103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</a:rPr>
              <a:t>Generates standardized JSON/ROS telemetry orders for autonomous robotic recovery missions.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TECHNICAL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411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 &amp; Data Pipeline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</a:rPr>
              <a:t>Modular edge-to-cloud pipeline engineered for sub-second real-time execution.</a:t>
            </a:r>
            <a:endParaRPr lang="en-US" sz="1250" dirty="0"/>
          </a:p>
        </p:txBody>
      </p:sp>
      <p:pic>
        <p:nvPicPr>
          <p:cNvPr id="6" name="Image 0" descr="C:/Users/d/Downloads/New folder/Architecture_Clean_Flowchart_On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645920"/>
            <a:ext cx="10698480" cy="3291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5120640"/>
            <a:ext cx="246888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5257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</a:rPr>
              <a:t>1. Sensor Ingestion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" y="553212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1080p optical camera + 120 kHz sonar telemetry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74720" y="5120640"/>
            <a:ext cx="246888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11880" y="5257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</a:rPr>
              <a:t>2. Spectral Dehaze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611880" y="553212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Beer-Lambert physical color compensation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17920" y="5120640"/>
            <a:ext cx="246888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5257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</a:rPr>
              <a:t>3. Neural Inference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355080" y="553212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Gemini Vision &amp; YOLO edge bounding classification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961120" y="5120640"/>
            <a:ext cx="246888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98280" y="52578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</a:rPr>
              <a:t>4. Mission Dispatch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9098280" y="553212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ROS / MAVLink telemetry orders for AUV recovery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INNOVATION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411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Innovation &amp; Technological Moat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</a:rPr>
              <a:t>Three technological breakthroughs setting AquaSentinel apart from generic vision models.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62179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8308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369A1"/>
                </a:solidFill>
              </a:rPr>
              <a:t>Physics-Informed Spectral De-Hazing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2103120"/>
            <a:ext cx="5852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</a:rPr>
              <a:t>Unlike naive brightness filters that wash out detail, our algorithm models water's selective absorption coefficient mathematically, reconstructing lost red wavelengths and backscatter contrast without distorting fauna.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31520" y="3154680"/>
            <a:ext cx="62179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29184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369A1"/>
                </a:solidFill>
              </a:rPr>
              <a:t>Lattice Geometry Net Entanglement Sentry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914400" y="3611880"/>
            <a:ext cx="5852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</a:rPr>
              <a:t>Ghost nets blend almost invisibly into reef structures. AquaSentinel uses custom structural lattice edge analysis to isolate synthetic diamond-mesh patterns even when obscured by organic algal bloom.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663440"/>
            <a:ext cx="62179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80060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369A1"/>
                </a:solidFill>
              </a:rPr>
              <a:t>Marine Fauna Co-Existence Safety Guard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14400" y="5120640"/>
            <a:ext cx="5852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</a:rPr>
              <a:t>Autonomous environmental ethics: The system continuously scans for protected marine species (sea turtles, dugongs) and automatically injects mission-hold telemetry if wildlife breaches the operation perimeter.</a:t>
            </a:r>
            <a:endParaRPr lang="en-US" sz="1150" dirty="0"/>
          </a:p>
        </p:txBody>
      </p:sp>
      <p:pic>
        <p:nvPicPr>
          <p:cNvPr id="15" name="Image 0" descr="C:/Users/d/Downloads/New folder/Slide5_Tech_Stack_Infographi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1645920"/>
            <a:ext cx="42062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DEMONSTRATION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411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Working Prototype — 8 Interactive Capabilities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</a:rPr>
              <a:t>Zero hardware setup required — fully responsive, edge-ready, and browser native.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2468880" cy="2057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828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4D68"/>
                </a:solidFill>
              </a:rPr>
              <a:t>Interactive Split-Slider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68680" y="219456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</a:rPr>
              <a:t>Live comparison of raw murky feed vs physics-dehazed subsea imagery.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0" y="1645920"/>
            <a:ext cx="2468880" cy="2057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828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4D68"/>
                </a:solidFill>
              </a:rPr>
              <a:t>Confidence Thresholding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611880" y="219456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</a:rPr>
              <a:t>Adjustable 50%–95% threshold to eliminate false positives in real time.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0" y="1645920"/>
            <a:ext cx="2468880" cy="2057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828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4D68"/>
                </a:solidFill>
              </a:rPr>
              <a:t>120 kHz Sonar Radar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55080" y="219456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</a:rPr>
              <a:t>Acoustic sweep simulation with live blips and audio chirp synthesized via Web Audio API.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961120" y="1645920"/>
            <a:ext cx="2468880" cy="2057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98280" y="1828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4D68"/>
                </a:solidFill>
              </a:rPr>
              <a:t>3 Real-World Scenarios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098280" y="219456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</a:rPr>
              <a:t>Dubai Coast Coral Net (-16.4m), Indian Ocean Plastics (-28.2m), Jebel Ali Toxic Drum (-11.8m).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2468880" cy="2057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114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4D68"/>
                </a:solidFill>
              </a:rPr>
              <a:t>Marine Pollution Index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68680" y="448056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</a:rPr>
              <a:t>Dynamic MPI gauge (0–100) scoring environmental contamination levels.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474720" y="3931920"/>
            <a:ext cx="2468880" cy="2057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11880" y="4114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4D68"/>
                </a:solidFill>
              </a:rPr>
              <a:t>Automated Report Export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611880" y="448056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</a:rPr>
              <a:t>1-Click PDF survey inspection certificates and JSON telemetry payload downloads.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17920" y="3931920"/>
            <a:ext cx="2468880" cy="2057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4114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4D68"/>
                </a:solidFill>
              </a:rPr>
              <a:t>Fauna Safeguard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355080" y="448056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</a:rPr>
              <a:t>Automatic safety abort when endangered Green Sea Turtles are detected near recovery tools.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961120" y="3931920"/>
            <a:ext cx="2468880" cy="2057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98280" y="4114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4D68"/>
                </a:solidFill>
              </a:rPr>
              <a:t>Offline Autonomous Mode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098280" y="448056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</a:rPr>
              <a:t>Runs 100% locally in any browser with zero network or server dependencies.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FEASIBILITY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411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Feasibility &amp; Operational Specs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</a:rPr>
              <a:t>Designed for deployment aboard compact micro-AUVs and research vessels.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329184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830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4C7"/>
                </a:solidFill>
              </a:rPr>
              <a:t>&gt;30 FPS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21945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Real-Time Frame Latency: Sub-35ms pipeline ensures immediate collision avoidance and active hazard tracking.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645920"/>
            <a:ext cx="329184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7830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</a:rPr>
              <a:t>EDGE READY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572000" y="21945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NVIDIA Jetson &amp; WASM: Low-power compute profile maximizes AUV battery sortie duration during deep dives.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645920"/>
            <a:ext cx="338328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1783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100% OFFLINE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229600" y="21945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Autonomous Disconnected Mode: Operates isolated from cloud connectivity via cached weights &amp; acoustic relays.</a:t>
            </a:r>
            <a:endParaRPr lang="en-US" sz="1100" dirty="0"/>
          </a:p>
        </p:txBody>
      </p:sp>
      <p:pic>
        <p:nvPicPr>
          <p:cNvPr id="15" name="Image 0" descr="C:/Users/d/Downloads/New folder/Professional_Tech_Stack_Whi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3017520"/>
            <a:ext cx="1069848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MARKET &amp; SOCIAL IMPACT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411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Dubai, UAE &amp; Global Environmental Impact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</a:rPr>
              <a:t>Directly advancing Arabian Gulf conservation and international marine protection.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6217920" cy="137160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8308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7857"/>
                </a:solidFill>
              </a:rPr>
              <a:t>Arabian Gulf &amp; Dubai Marine Environment Protection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5852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</a:rPr>
              <a:t>Supports UAE Marine Protected Areas (MPAs), safeguarding Arabian Gulf coral formations and the world's second-largest resident population of dugongs. Integrates with Dubai Harbor smart-port environmental monitoring.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31520" y="3200400"/>
            <a:ext cx="621792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33756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4D68"/>
                </a:solidFill>
              </a:rPr>
              <a:t>UN SDG 14: Life Below Water &amp; Global Plastic Treaty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3703320"/>
            <a:ext cx="5852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</a:rPr>
              <a:t>Direct contribution to Target 14.1 (marine litter reduction). Generates verifiable, geo-tagged debris metrics providing audit-ready data for international environmental enforcement.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754880"/>
            <a:ext cx="6217920" cy="14630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89204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4D68"/>
                </a:solidFill>
              </a:rPr>
              <a:t>Economic &amp; Commercial Maritime Safety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525780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</a:rPr>
              <a:t>Reduces annual propeller entanglement damages ($1.2B maritime industry cost) and cuts commercial diver hazardous inspection risk by up to 80% through robotic pre-surveying.</a:t>
            </a:r>
            <a:endParaRPr lang="en-US" sz="1150" dirty="0"/>
          </a:p>
        </p:txBody>
      </p:sp>
      <p:pic>
        <p:nvPicPr>
          <p:cNvPr id="15" name="Image 0" descr="C:/Users/d/Downloads/New folder/Slide7_Impact_Char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1645920"/>
            <a:ext cx="42062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411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Roadmap &amp; Commercial Milestones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</a:rPr>
              <a:t>A clear path from engineering prototype to maritime fleet integration.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62179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83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4C7"/>
                </a:solidFill>
              </a:rPr>
              <a:t>PHASE 1: CURRENT (Q3 2026)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5740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</a:rPr>
              <a:t>NOVA 2026 Submission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14400" y="23774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Interactive browser command dashboard, Gemini Vision classification, 120 kHz sonar chirp, and AUV telemetry order generator.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3154680"/>
            <a:ext cx="62179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91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4C7"/>
                </a:solidFill>
              </a:rPr>
              <a:t>PHASE 2: NOV 2026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56616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</a:rPr>
              <a:t>Dubai Finale Field Test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914400" y="388620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Live in-water trial with BITS Pilani Dubai ocean engineering faculty using low-cost tethered ROV hardware.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1520" y="4663440"/>
            <a:ext cx="62179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8006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4C7"/>
                </a:solidFill>
              </a:rPr>
              <a:t>PHASE 3: 2027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507492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</a:rPr>
              <a:t>Autonomous Drone Swarm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4400" y="539496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Multi-vehicle acoustic swarm coordination for automated 24/7 port perimeter defense and debris recovery.</a:t>
            </a:r>
            <a:endParaRPr lang="en-US" sz="1150" dirty="0"/>
          </a:p>
        </p:txBody>
      </p:sp>
      <p:pic>
        <p:nvPicPr>
          <p:cNvPr id="18" name="Image 0" descr="C:/Users/d/Downloads/New folder/Slide7_Impact_Infographi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1645920"/>
            <a:ext cx="42062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2FF"/>
                </a:solidFill>
              </a:rPr>
              <a:t>INVENT THE INFINITE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AquaSentinel AI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94A3B8"/>
                </a:solidFill>
              </a:rPr>
              <a:t>Protecting the Blue Heart of Our Planet with Autonomous Intelligence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2011680" y="3840480"/>
            <a:ext cx="8138160" cy="1828800"/>
          </a:xfrm>
          <a:prstGeom prst="rect">
            <a:avLst/>
          </a:prstGeom>
          <a:solidFill>
            <a:srgbClr val="112240"/>
          </a:solidFill>
          <a:ln w="12700">
            <a:solidFill>
              <a:srgbClr val="00D2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94560" y="4023360"/>
            <a:ext cx="7772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SUBMISSION FOR NOVA 2026</a:t>
            </a:r>
            <a:endParaRPr lang="en-US" sz="13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Organized by KVGCE Sphere Hive × Microsoft Tech Club</a:t>
            </a:r>
            <a:endParaRPr lang="en-US" sz="13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International Grand Finale: BITS Pilani Dubai Campus</a:t>
            </a:r>
            <a:endParaRPr lang="en-US" sz="13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Team: Trinex Bytes • Track C: Sustainable Technologies</a:t>
            </a:r>
            <a:endParaRPr lang="en-US" sz="13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Contact: microsofttechclub@dubai.bits-pilani.ac.in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BITS Pilani Dubai Campus - NOVA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AquaSentinel AI - NOVA 2026 Pitch Deck</dc:title>
  <dc:subject>PptxGenJS Presentation</dc:subject>
  <dc:creator>Team Trinex Bytes</dc:creator>
  <cp:lastModifiedBy>Team Trinex Bytes</cp:lastModifiedBy>
  <cp:revision>1</cp:revision>
  <dcterms:created xsi:type="dcterms:W3CDTF">2026-09-30T16:30:35Z</dcterms:created>
  <dcterms:modified xsi:type="dcterms:W3CDTF">2026-09-30T16:30:35Z</dcterms:modified>
</cp:coreProperties>
</file>